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9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0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cbb7f81-aea2-0055-443e-bb1508e346a7}">
          <p14:sldIdLst>
            <p14:sldId id="256"/>
            <p14:sldId id="257"/>
            <p14:sldId id="258"/>
          </p14:sldIdLst>
        </p14:section>
        <p14:section name="Market and companies" id="{68baf532-ecf5-9175-f42d-433130e80d6c}">
          <p14:sldIdLst>
            <p14:sldId id="259"/>
            <p14:sldId id="260"/>
            <p14:sldId id="261"/>
          </p14:sldIdLst>
        </p14:section>
        <p14:section name="Deal rationale" id="{f5c5a3de-97a8-ada7-5e99-287c89ccc683}">
          <p14:sldIdLst>
            <p14:sldId id="262"/>
            <p14:sldId id="263"/>
          </p14:sldIdLst>
        </p14:section>
        <p14:section name="Valuation" id="{eddad41b-d6db-5864-bfe0-6732483a702b}">
          <p14:sldIdLst>
            <p14:sldId id="264"/>
            <p14:sldId id="265"/>
            <p14:sldId id="266"/>
            <p14:sldId id="267"/>
            <p14:sldId id="268"/>
          </p14:sldIdLst>
        </p14:section>
        <p14:section name="Pro forma impact" id="{6c0a835d-549b-b812-476d-8f00d45fe428}">
          <p14:sldIdLst>
            <p14:sldId id="269"/>
            <p14:sldId id="270"/>
            <p14:sldId id="271"/>
            <p14:sldId id="272"/>
            <p14:sldId id="273"/>
          </p14:sldIdLst>
        </p14:section>
        <p14:section name="Risks and next steps" id="{a3e34442-b549-2af5-c038-5f64ebeea1da}">
          <p14:sldIdLst>
            <p14:sldId id="274"/>
            <p14:sldId id="275"/>
          </p14:sldIdLst>
        </p14:section>
        <p14:section name="Appendix" id="{fd9073ca-ce81-2a0d-344a-cdac8911dde8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22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22E"/>
                </a:solidFill>
                <a:latin typeface="Calibri"/>
              </a:rPr>
              <a:t>Pro forma ownership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Ownership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222E"/>
              </a:solidFill>
              <a:effectLst/>
            </c:spPr>
          </c:dPt>
          <c:dPt>
            <c:idx val="1"/>
            <c:bubble3D val="0"/>
            <c:spPr>
              <a:solidFill>
                <a:srgbClr val="B5652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Centerra shareholders 57%</c:v>
                </c:pt>
                <c:pt idx="1">
                  <c:v>Ero shareholders 43%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0.568190853935419</c:v>
                </c:pt>
                <c:pt idx="1">
                  <c:v>0.431809146064581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D4F5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22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22E"/>
                </a:solidFill>
                <a:latin typeface="Calibri"/>
              </a:rPr>
              <a:t>Copper (US$/lb)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Analyst deck</c:v>
                </c:pt>
              </c:strCache>
            </c:strRef>
          </c:tx>
          <c:spPr>
            <a:solidFill>
              <a:srgbClr val="B5652B"/>
            </a:solidFill>
            <a:ln w="31750" cap="flat">
              <a:solidFill>
                <a:srgbClr val="B565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5652B"/>
              </a:solidFill>
              <a:ln w="9525" cap="flat">
                <a:solidFill>
                  <a:srgbClr val="B565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  <c:pt idx="5">
                    <c:v>2032</c:v>
                  </c:pt>
                  <c:pt idx="6">
                    <c:v>2033</c:v>
                  </c:pt>
                  <c:pt idx="7">
                    <c:v>2034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Spot (flat)</c:v>
                </c:pt>
              </c:strCache>
            </c:strRef>
          </c:tx>
          <c:spPr>
            <a:solidFill>
              <a:srgbClr val="9AA5AF"/>
            </a:solidFill>
            <a:ln w="31750" cap="flat">
              <a:solidFill>
                <a:srgbClr val="9AA5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5AF"/>
              </a:solidFill>
              <a:ln w="9525" cap="flat">
                <a:solidFill>
                  <a:srgbClr val="9AA5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  <c:pt idx="5">
                    <c:v>2032</c:v>
                  </c:pt>
                  <c:pt idx="6">
                    <c:v>2033</c:v>
                  </c:pt>
                  <c:pt idx="7">
                    <c:v>2034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6.47599983215332</c:v>
                </c:pt>
                <c:pt idx="1">
                  <c:v>6.47599983215332</c:v>
                </c:pt>
                <c:pt idx="2">
                  <c:v>6.47599983215332</c:v>
                </c:pt>
                <c:pt idx="3">
                  <c:v>6.47599983215332</c:v>
                </c:pt>
                <c:pt idx="4">
                  <c:v>6.47599983215332</c:v>
                </c:pt>
                <c:pt idx="5">
                  <c:v>6.47599983215332</c:v>
                </c:pt>
                <c:pt idx="6">
                  <c:v>6.47599983215332</c:v>
                </c:pt>
                <c:pt idx="7">
                  <c:v>6.47599983215332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F5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$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4F5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D4F5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22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22E"/>
                </a:solidFill>
                <a:latin typeface="Calibri"/>
              </a:rPr>
              <a:t>Gold (US$/oz)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Analyst deck</c:v>
                </c:pt>
              </c:strCache>
            </c:strRef>
          </c:tx>
          <c:spPr>
            <a:solidFill>
              <a:srgbClr val="B8892A"/>
            </a:solidFill>
            <a:ln w="31750" cap="flat">
              <a:solidFill>
                <a:srgbClr val="B889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892A"/>
              </a:solidFill>
              <a:ln w="9525" cap="flat">
                <a:solidFill>
                  <a:srgbClr val="B889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  <c:pt idx="5">
                    <c:v>2032</c:v>
                  </c:pt>
                  <c:pt idx="6">
                    <c:v>2033</c:v>
                  </c:pt>
                  <c:pt idx="7">
                    <c:v>2034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3900</c:v>
                </c:pt>
                <c:pt idx="1">
                  <c:v>3600</c:v>
                </c:pt>
                <c:pt idx="2">
                  <c:v>3300</c:v>
                </c:pt>
                <c:pt idx="3">
                  <c:v>3300</c:v>
                </c:pt>
                <c:pt idx="4">
                  <c:v>3300</c:v>
                </c:pt>
                <c:pt idx="5">
                  <c:v>3300</c:v>
                </c:pt>
                <c:pt idx="6">
                  <c:v>3300</c:v>
                </c:pt>
                <c:pt idx="7">
                  <c:v>3300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Spot (flat)</c:v>
                </c:pt>
              </c:strCache>
            </c:strRef>
          </c:tx>
          <c:spPr>
            <a:solidFill>
              <a:srgbClr val="9AA5AF"/>
            </a:solidFill>
            <a:ln w="31750" cap="flat">
              <a:solidFill>
                <a:srgbClr val="9AA5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5AF"/>
              </a:solidFill>
              <a:ln w="9525" cap="flat">
                <a:solidFill>
                  <a:srgbClr val="9AA5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  <c:pt idx="5">
                    <c:v>2032</c:v>
                  </c:pt>
                  <c:pt idx="6">
                    <c:v>2033</c:v>
                  </c:pt>
                  <c:pt idx="7">
                    <c:v>2034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4007.89990234375</c:v>
                </c:pt>
                <c:pt idx="1">
                  <c:v>4007.89990234375</c:v>
                </c:pt>
                <c:pt idx="2">
                  <c:v>4007.89990234375</c:v>
                </c:pt>
                <c:pt idx="3">
                  <c:v>4007.89990234375</c:v>
                </c:pt>
                <c:pt idx="4">
                  <c:v>4007.89990234375</c:v>
                </c:pt>
                <c:pt idx="5">
                  <c:v>4007.89990234375</c:v>
                </c:pt>
                <c:pt idx="6">
                  <c:v>4007.89990234375</c:v>
                </c:pt>
                <c:pt idx="7">
                  <c:v>4007.89990234375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F5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4F5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D4F5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22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22E"/>
                </a:solidFill>
                <a:latin typeface="Calibri"/>
              </a:rPr>
              <a:t>Asset NAV mix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NAV by asset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222E"/>
              </a:solidFill>
              <a:effectLst/>
            </c:spPr>
          </c:dPt>
          <c:dPt>
            <c:idx val="1"/>
            <c:bubble3D val="0"/>
            <c:spPr>
              <a:solidFill>
                <a:srgbClr val="3D4F5F"/>
              </a:solidFill>
              <a:effectLst/>
            </c:spPr>
          </c:dPt>
          <c:dPt>
            <c:idx val="2"/>
            <c:bubble3D val="0"/>
            <c:spPr>
              <a:solidFill>
                <a:srgbClr val="9AA5A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Mount Milligan 63%</c:v>
                </c:pt>
                <c:pt idx="1">
                  <c:v>Öksüt 20%</c:v>
                </c:pt>
                <c:pt idx="2">
                  <c:v>Goldfield 16%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927.738587925968</c:v>
                </c:pt>
                <c:pt idx="1">
                  <c:v>297.790902712492</c:v>
                </c:pt>
                <c:pt idx="2">
                  <c:v>239.487674183905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D4F5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22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22E"/>
                </a:solidFill>
                <a:latin typeface="Calibri"/>
              </a:rPr>
              <a:t>Asset NAV mix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NAV by asset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5652B"/>
              </a:solidFill>
              <a:effectLst/>
            </c:spPr>
          </c:dPt>
          <c:dPt>
            <c:idx val="1"/>
            <c:bubble3D val="0"/>
            <c:spPr>
              <a:solidFill>
                <a:srgbClr val="3D4F5F"/>
              </a:solidFill>
              <a:effectLst/>
            </c:spPr>
          </c:dPt>
          <c:dPt>
            <c:idx val="2"/>
            <c:bubble3D val="0"/>
            <c:spPr>
              <a:solidFill>
                <a:srgbClr val="9AA5A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Caraíba 48%</c:v>
                </c:pt>
                <c:pt idx="1">
                  <c:v>Tucumã 47%</c:v>
                </c:pt>
                <c:pt idx="2">
                  <c:v>Xavantina 5%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970.677240123445</c:v>
                </c:pt>
                <c:pt idx="1">
                  <c:v>936.154739175151</c:v>
                </c:pt>
                <c:pt idx="2">
                  <c:v>99.6645029869051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D4F5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22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22E"/>
                </a:solidFill>
                <a:latin typeface="Calibri"/>
              </a:rPr>
              <a:t>Attributable production, koz gold-equivalent (copper at long-term deck ratio)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Centerra</c:v>
                </c:pt>
              </c:strCache>
            </c:strRef>
          </c:tx>
          <c:spPr>
            <a:solidFill>
              <a:srgbClr val="1622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  <c:pt idx="5">
                    <c:v>2032</c:v>
                  </c:pt>
                  <c:pt idx="6">
                    <c:v>2033</c:v>
                  </c:pt>
                  <c:pt idx="7">
                    <c:v>2034</c:v>
                  </c:pt>
                  <c:pt idx="8">
                    <c:v>2035</c:v>
                  </c:pt>
                  <c:pt idx="9">
                    <c:v>2036</c:v>
                  </c:pt>
                  <c:pt idx="10">
                    <c:v>2037</c:v>
                  </c:pt>
                  <c:pt idx="11">
                    <c:v>2038</c:v>
                  </c:pt>
                  <c:pt idx="12">
                    <c:v>2039</c:v>
                  </c:pt>
                  <c:pt idx="13">
                    <c:v>2040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323.85367012292164</c:v>
                </c:pt>
                <c:pt idx="1">
                  <c:v>323.85367012292164</c:v>
                </c:pt>
                <c:pt idx="2">
                  <c:v>333.05643009742016</c:v>
                </c:pt>
                <c:pt idx="3">
                  <c:v>298.4313891213242</c:v>
                </c:pt>
                <c:pt idx="4">
                  <c:v>298.4313891213242</c:v>
                </c:pt>
                <c:pt idx="5">
                  <c:v>298.4313891213242</c:v>
                </c:pt>
                <c:pt idx="6">
                  <c:v>298.4313891213242</c:v>
                </c:pt>
                <c:pt idx="7">
                  <c:v>298.4313891213242</c:v>
                </c:pt>
                <c:pt idx="8">
                  <c:v>298.4313891213242</c:v>
                </c:pt>
                <c:pt idx="9">
                  <c:v>257.9545884525891</c:v>
                </c:pt>
                <c:pt idx="10">
                  <c:v>229.74903504541632</c:v>
                </c:pt>
                <c:pt idx="11">
                  <c:v>229.74903504541632</c:v>
                </c:pt>
                <c:pt idx="12">
                  <c:v>229.74903504541632</c:v>
                </c:pt>
                <c:pt idx="13">
                  <c:v>229.74903504541632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Ero</c:v>
                </c:pt>
              </c:strCache>
            </c:strRef>
          </c:tx>
          <c:spPr>
            <a:solidFill>
              <a:srgbClr val="B565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  <c:pt idx="5">
                    <c:v>2032</c:v>
                  </c:pt>
                  <c:pt idx="6">
                    <c:v>2033</c:v>
                  </c:pt>
                  <c:pt idx="7">
                    <c:v>2034</c:v>
                  </c:pt>
                  <c:pt idx="8">
                    <c:v>2035</c:v>
                  </c:pt>
                  <c:pt idx="9">
                    <c:v>2036</c:v>
                  </c:pt>
                  <c:pt idx="10">
                    <c:v>2037</c:v>
                  </c:pt>
                  <c:pt idx="11">
                    <c:v>2038</c:v>
                  </c:pt>
                  <c:pt idx="12">
                    <c:v>2039</c:v>
                  </c:pt>
                  <c:pt idx="13">
                    <c:v>2040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255.43296089604942</c:v>
                </c:pt>
                <c:pt idx="1">
                  <c:v>255.43296089604942</c:v>
                </c:pt>
                <c:pt idx="2">
                  <c:v>255.43296089604942</c:v>
                </c:pt>
                <c:pt idx="3">
                  <c:v>255.43296089604942</c:v>
                </c:pt>
                <c:pt idx="4">
                  <c:v>239.74405091742972</c:v>
                </c:pt>
                <c:pt idx="5">
                  <c:v>216.2106859495</c:v>
                </c:pt>
                <c:pt idx="6">
                  <c:v>216.2106859495</c:v>
                </c:pt>
                <c:pt idx="7">
                  <c:v>216.2106859495</c:v>
                </c:pt>
                <c:pt idx="8">
                  <c:v>140.4101203417</c:v>
                </c:pt>
                <c:pt idx="9">
                  <c:v>110.2632626095</c:v>
                </c:pt>
                <c:pt idx="10">
                  <c:v>110.2632626095</c:v>
                </c:pt>
                <c:pt idx="11">
                  <c:v>110.2632626095</c:v>
                </c:pt>
                <c:pt idx="12">
                  <c:v>110.2632626095</c:v>
                </c:pt>
                <c:pt idx="13">
                  <c:v>110.2632626095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F5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4F5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D4F5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22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22E"/>
                </a:solidFill>
                <a:latin typeface="Calibri"/>
              </a:rPr>
              <a:t>Attributable NAV at the analyst deck, US$M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Centerra</c:v>
                </c:pt>
              </c:strCache>
            </c:strRef>
          </c:tx>
          <c:spPr>
            <a:solidFill>
              <a:srgbClr val="16222E"/>
            </a:solidFill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Caraíba</c:v>
                  </c:pt>
                  <c:pt idx="1">
                    <c:v>Tucumã</c:v>
                  </c:pt>
                  <c:pt idx="2">
                    <c:v>Mount Milligan</c:v>
                  </c:pt>
                  <c:pt idx="3">
                    <c:v>Öksüt</c:v>
                  </c:pt>
                  <c:pt idx="4">
                    <c:v>Goldfield</c:v>
                  </c:pt>
                  <c:pt idx="5">
                    <c:v>Xavantina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927.738587925968</c:v>
                </c:pt>
                <c:pt idx="3">
                  <c:v>297.790902712492</c:v>
                </c:pt>
                <c:pt idx="4">
                  <c:v>239.487674183905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Ero</c:v>
                </c:pt>
              </c:strCache>
            </c:strRef>
          </c:tx>
          <c:spPr>
            <a:solidFill>
              <a:srgbClr val="B5652B"/>
            </a:solidFill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Caraíba</c:v>
                  </c:pt>
                  <c:pt idx="1">
                    <c:v>Tucumã</c:v>
                  </c:pt>
                  <c:pt idx="2">
                    <c:v>Mount Milligan</c:v>
                  </c:pt>
                  <c:pt idx="3">
                    <c:v>Öksüt</c:v>
                  </c:pt>
                  <c:pt idx="4">
                    <c:v>Goldfield</c:v>
                  </c:pt>
                  <c:pt idx="5">
                    <c:v>Xavantina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970.677240123445</c:v>
                </c:pt>
                <c:pt idx="1">
                  <c:v>936.154739175151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99.6645029869051</c:v>
                </c:pt>
              </c:numCache>
            </c:numRef>
          </c:val>
        </c:ser>
        <c:dLbls>
          <c:numFmt formatCode="#,##0;-#,##0;;" sourceLinked="0"/>
          <c:txPr>
            <a:bodyPr/>
            <a:lstStyle/>
            <a:p>
              <a:pPr>
                <a:defRPr b="0" i="0" strike="noStrike" sz="1100" u="none">
                  <a:solidFill>
                    <a:srgbClr val="1E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F5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4F5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D4F5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22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22E"/>
                </a:solidFill>
                <a:latin typeface="Calibri"/>
              </a:rPr>
              <a:t>P/NAV by price case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Analyst deck</c:v>
                </c:pt>
              </c:strCache>
            </c:strRef>
          </c:tx>
          <c:spPr>
            <a:solidFill>
              <a:srgbClr val="16222E"/>
            </a:solidFill>
            <a:effectLst/>
          </c:spPr>
          <c:invertIfNegative val="0"/>
          <c:dLbls>
            <c:numFmt formatCode="0.00&quot;x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Centerra</c:v>
                  </c:pt>
                  <c:pt idx="1">
                    <c:v>Ero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2.38173386332248</c:v>
                </c:pt>
                <c:pt idx="1">
                  <c:v>2.36083459353088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Spot prices</c:v>
                </c:pt>
              </c:strCache>
            </c:strRef>
          </c:tx>
          <c:spPr>
            <a:solidFill>
              <a:srgbClr val="B5652B"/>
            </a:solidFill>
            <a:effectLst/>
          </c:spPr>
          <c:invertIfNegative val="0"/>
          <c:dLbls>
            <c:numFmt formatCode="0.00&quot;x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Centerra</c:v>
                  </c:pt>
                  <c:pt idx="1">
                    <c:v>Ero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1.38616820759734</c:v>
                </c:pt>
                <c:pt idx="1">
                  <c:v>1.21888071238136</c:v>
                </c:pt>
              </c:numCache>
            </c:numRef>
          </c:val>
        </c:ser>
        <c:dLbls>
          <c:numFmt formatCode="0.00&quot;x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F5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0.0&quot;x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4F5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D4F5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5"/>
          <c:y val="0.03"/>
          <c:w val="0.72"/>
          <c:h val="0.86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52-week trading range</c:v>
                  </c:pt>
                  <c:pt idx="1">
                    <c:v>Analyst price targets</c:v>
                  </c:pt>
                  <c:pt idx="2">
                    <c:v>Comps: EV / EBITDA</c:v>
                  </c:pt>
                  <c:pt idx="3">
                    <c:v>Comps: P / CF</c:v>
                  </c:pt>
                  <c:pt idx="4">
                    <c:v>Comps: EV / lb CuEq reserve</c:v>
                  </c:pt>
                  <c:pt idx="5">
                    <c:v>Precedent premiums</c:v>
                  </c:pt>
                  <c:pt idx="6">
                    <c:v>NAV at Centerra's P/NAV</c:v>
                  </c:pt>
                  <c:pt idx="7">
                    <c:v>NAV at 1.0x (deck to spot)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27.22</c:v>
                </c:pt>
                <c:pt idx="1">
                  <c:v>47</c:v>
                </c:pt>
                <c:pt idx="2">
                  <c:v>25.431253104533</c:v>
                </c:pt>
                <c:pt idx="3">
                  <c:v>37.6317523584914</c:v>
                </c:pt>
                <c:pt idx="4">
                  <c:v>15.1910241975676</c:v>
                </c:pt>
                <c:pt idx="5">
                  <c:v>54.639</c:v>
                </c:pt>
                <c:pt idx="6">
                  <c:v>42.4020702465763</c:v>
                </c:pt>
                <c:pt idx="7">
                  <c:v>17.803026148113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B565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52-week trading range</c:v>
                  </c:pt>
                  <c:pt idx="1">
                    <c:v>Analyst price targets</c:v>
                  </c:pt>
                  <c:pt idx="2">
                    <c:v>Comps: EV / EBITDA</c:v>
                  </c:pt>
                  <c:pt idx="3">
                    <c:v>Comps: P / CF</c:v>
                  </c:pt>
                  <c:pt idx="4">
                    <c:v>Comps: EV / lb CuEq reserve</c:v>
                  </c:pt>
                  <c:pt idx="5">
                    <c:v>Precedent premiums</c:v>
                  </c:pt>
                  <c:pt idx="6">
                    <c:v>NAV at Centerra's P/NAV</c:v>
                  </c:pt>
                  <c:pt idx="7">
                    <c:v>NAV at 1.0x (deck to spot)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29.4</c:v>
                </c:pt>
                <c:pt idx="1">
                  <c:v>21</c:v>
                </c:pt>
                <c:pt idx="2">
                  <c:v>25.6665291551005</c:v>
                </c:pt>
                <c:pt idx="3">
                  <c:v>32.214950392056906</c:v>
                </c:pt>
                <c:pt idx="4">
                  <c:v>13.3964761085453</c:v>
                </c:pt>
                <c:pt idx="5">
                  <c:v>2.9420999999999964</c:v>
                </c:pt>
                <c:pt idx="6">
                  <c:v>5.396413373277596</c:v>
                </c:pt>
                <c:pt idx="7">
                  <c:v>16.6794294138303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F5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b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&quot;C$&quot;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4F5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22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22E"/>
                </a:solidFill>
                <a:latin typeface="Calibri"/>
              </a:rPr>
              <a:t>Accretion / (dilution) to Centerra shareholders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Accretion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+0%;-0%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EPS 2027E</c:v>
                  </c:pt>
                  <c:pt idx="1">
                    <c:v>EPS 2028E</c:v>
                  </c:pt>
                  <c:pt idx="2">
                    <c:v>CFPS 2027E</c:v>
                  </c:pt>
                  <c:pt idx="3">
                    <c:v>CFPS 2028E</c:v>
                  </c:pt>
                  <c:pt idx="4">
                    <c:v>NAVPS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0.33311465951384</c:v>
                </c:pt>
                <c:pt idx="1">
                  <c:v>0.600356558723182</c:v>
                </c:pt>
                <c:pt idx="2">
                  <c:v>0.245599846780237</c:v>
                </c:pt>
                <c:pt idx="3">
                  <c:v>0.326152772594222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Dilution</c:v>
                </c:pt>
              </c:strCache>
            </c:strRef>
          </c:tx>
          <c:spPr>
            <a:solidFill>
              <a:srgbClr val="B23A3A"/>
            </a:solidFill>
            <a:effectLst/>
          </c:spPr>
          <c:invertIfNegative val="0"/>
          <c:dLbls>
            <c:numFmt formatCode="+0%;-0%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EPS 2027E</c:v>
                  </c:pt>
                  <c:pt idx="1">
                    <c:v>EPS 2028E</c:v>
                  </c:pt>
                  <c:pt idx="2">
                    <c:v>CFPS 2027E</c:v>
                  </c:pt>
                  <c:pt idx="3">
                    <c:v>CFPS 2028E</c:v>
                  </c:pt>
                  <c:pt idx="4">
                    <c:v>NAVPS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-0.135893296331423</c:v>
                </c:pt>
              </c:numCache>
            </c:numRef>
          </c:val>
        </c:ser>
        <c:dLbls>
          <c:numFmt formatCode="+0%;-0%;;" sourceLinked="0"/>
          <c:txPr>
            <a:bodyPr/>
            <a:lstStyle/>
            <a:p>
              <a:pPr>
                <a:defRPr b="0" i="0" strike="noStrike" sz="1200" u="none">
                  <a:solidFill>
                    <a:srgbClr val="1E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F5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4F5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22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22E"/>
                </a:solidFill>
                <a:latin typeface="Calibri"/>
              </a:rPr>
              <a:t>Pre-tax run-rate synergies by category, US$M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Run-rate</c:v>
                </c:pt>
              </c:strCache>
            </c:strRef>
          </c:tx>
          <c:spPr>
            <a:solidFill>
              <a:srgbClr val="B5652B"/>
            </a:solidFill>
            <a:effectLst/>
          </c:spPr>
          <c:invertIfNegative val="0"/>
          <c:dLbls>
            <c:numFmt formatCode="&quot;US$&quot;0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Corporate G&amp;A</c:v>
                  </c:pt>
                  <c:pt idx="1">
                    <c:v>Procurement and concentrate marketing</c:v>
                  </c:pt>
                  <c:pt idx="2">
                    <c:v>Operational and technical services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65</c:v>
                </c:pt>
                <c:pt idx="2">
                  <c:v>45</c:v>
                </c:pt>
              </c:numCache>
            </c:numRef>
          </c:val>
        </c:ser>
        <c:dLbls>
          <c:numFmt formatCode="&quot;US$&quot;0&quot;M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F5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4F5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22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22E"/>
                </a:solidFill>
                <a:latin typeface="Calibri"/>
              </a:rPr>
              <a:t>Relative contribution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Centerra</c:v>
                </c:pt>
              </c:strCache>
            </c:strRef>
          </c:tx>
          <c:spPr>
            <a:solidFill>
              <a:srgbClr val="16222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Net asset value (US$M)</c:v>
                  </c:pt>
                  <c:pt idx="1">
                    <c:v>Market capitalisation (US$M)</c:v>
                  </c:pt>
                  <c:pt idx="2">
                    <c:v>2027E EBITDA (US$M)</c:v>
                  </c:pt>
                  <c:pt idx="3">
                    <c:v>2028E EBITDA (US$M)</c:v>
                  </c:pt>
                  <c:pt idx="4">
                    <c:v>2027E operating cash flow (US$M)</c:v>
                  </c:pt>
                  <c:pt idx="5">
                    <c:v>2027E net income (US$M)</c:v>
                  </c:pt>
                  <c:pt idx="6">
                    <c:v>2027E production (koz AuEq)</c:v>
                  </c:pt>
                  <c:pt idx="7">
                    <c:v>P&amp;P reserves (Mt CuEq)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0.55979800865965</c:v>
                </c:pt>
                <c:pt idx="1">
                  <c:v>0.561968719756114</c:v>
                </c:pt>
                <c:pt idx="2">
                  <c:v>0.469029133217411</c:v>
                </c:pt>
                <c:pt idx="3">
                  <c:v>0.464491073740031</c:v>
                </c:pt>
                <c:pt idx="4">
                  <c:v>0.464193471140334</c:v>
                </c:pt>
                <c:pt idx="5">
                  <c:v>0.438759921008613</c:v>
                </c:pt>
                <c:pt idx="6">
                  <c:v>0.559056005751867</c:v>
                </c:pt>
                <c:pt idx="7">
                  <c:v>0.695395684063441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Ero</c:v>
                </c:pt>
              </c:strCache>
            </c:strRef>
          </c:tx>
          <c:spPr>
            <a:solidFill>
              <a:srgbClr val="B5652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Net asset value (US$M)</c:v>
                  </c:pt>
                  <c:pt idx="1">
                    <c:v>Market capitalisation (US$M)</c:v>
                  </c:pt>
                  <c:pt idx="2">
                    <c:v>2027E EBITDA (US$M)</c:v>
                  </c:pt>
                  <c:pt idx="3">
                    <c:v>2028E EBITDA (US$M)</c:v>
                  </c:pt>
                  <c:pt idx="4">
                    <c:v>2027E operating cash flow (US$M)</c:v>
                  </c:pt>
                  <c:pt idx="5">
                    <c:v>2027E net income (US$M)</c:v>
                  </c:pt>
                  <c:pt idx="6">
                    <c:v>2027E production (koz AuEq)</c:v>
                  </c:pt>
                  <c:pt idx="7">
                    <c:v>P&amp;P reserves (Mt CuEq)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0.44020199134035</c:v>
                </c:pt>
                <c:pt idx="1">
                  <c:v>0.438031280243886</c:v>
                </c:pt>
                <c:pt idx="2">
                  <c:v>0.530970866782589</c:v>
                </c:pt>
                <c:pt idx="3">
                  <c:v>0.535508926259969</c:v>
                </c:pt>
                <c:pt idx="4">
                  <c:v>0.535806528859666</c:v>
                </c:pt>
                <c:pt idx="5">
                  <c:v>0.561240078991387</c:v>
                </c:pt>
                <c:pt idx="6">
                  <c:v>0.440943994248134</c:v>
                </c:pt>
                <c:pt idx="7">
                  <c:v>0.304604315936559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F5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4F5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D4F5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page. Frame the meeting: this is an unsolicited idea for Centerra's board, built only from public filings.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recommendation, then the three numbers the board will ask about: earnings accretion, NAV impact, and leverage.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terms top to bottom. The exchange ratio is fixed at Centerra's unaffected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Copper supply is constrained by grade decline and a thin project pipeline; gold has re-rated on central-bank buying. We still haircut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Centerra's problem is mine life and metal mix, not balance sheet. That is why it can be the buyer.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Ero has finished its build-out. Tucumã is ramping up and Caraíba's Pilar mill upgrade lands in Q4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is one reason with one number. Spend the most time on metal mix and mine life.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production chart shows why Ero matters: Centerra's profile falls as Öksüt ends, and Ero's copper fills the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Discount rates follow the sell-side convention: 5% real for gold, 8% for copper, 6.5% blended for Mount Milligan.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 P/NAV means a share-for-share deal is close to fair on NAV before the premium. The premium is what the synergies must pay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TTM figures from the latest filings. Peer reserves are estimates and flagged as such in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premium range is the most defensible benchmark. P/NAV at announcement is rarely disclosed outside paid databases.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bars against the copper line. NAV at 1.0x is the outlier because it gives no credit for resources outside reserves.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Earnings accretion comes from buying Ero's cheaper earnings with Centerra's higher-rated stock. NAVPS is the honest cost: we pay a premium for copper.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where the NAV case breaks even. Right: the EPS case is robust to the synergy estimate and to the cash mix.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Synergies are cost-only. No revenue synergies, no capex deferral, no tax structuring.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Contribution versus ownership is how Ero's board will judge fairness. Centerra gives up more earnings share than NAV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and uses. The new debt is small relative to pro forma EBITDA.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oversell. The board will ask about Brazil and about NAV dilution; answer both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ask: approval to make a confidential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reviewers who want to check the model mechanics.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which inputs are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Lodestone  |  Hypothetical analysis from public information  |  Not investment advice  |  Not affiliated with any bank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Lodestone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9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Centerra Gold and Ero Copper to create an Americas-weighted copper-gold mid-tier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materials for the Board of Directors of Centerra Gold  |  Market data as of 2026-10-25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illustration prepared from public information only. Not investment advice. Not affiliated with, prepared for, or endorsed by any bank or by either company.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Recommendation: Centerra should acquire Ero at C$54.64 per share, a 30% premium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71600"/>
            <a:ext cx="6675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of C$54.64 per Ero share: 75% Centerra stock (1.4470x exchange ratio) and 25% cash. Equity value US$4.1Bn; enterprise value US$4.5Bn.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US$7.1Bn copper-gold producer with US$1.1Bn of 2027E EBITDA and ~0.58 Moz of gold-equivalent output.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Accretive to earnings and cash flow from year one: EPS +33% and CFPS +25% in 2027E, rising with full synergies in 2028E.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per share is –14% at our below-spot deck but breaks even at ~US$5.88/lb flat copper, below today's spot of US$6.48/lb.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US$155M of run-rate synergies (NPV US$630M). Pro forma leverage of 1.0x 2027E EBITDA leaves room to keep funding growth.</a:t>
            </a:r>
            <a:endParaRPr lang="en-US" sz="1400" dirty="0"/>
          </a:p>
        </p:txBody>
      </p:sp>
      <p:sp>
        <p:nvSpPr>
          <p:cNvPr id="5" name="card Offer per Ero share (30% premium)"/>
          <p:cNvSpPr/>
          <p:nvPr/>
        </p:nvSpPr>
        <p:spPr>
          <a:xfrm>
            <a:off x="7589520" y="1371600"/>
            <a:ext cx="1965960" cy="13258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1508760"/>
            <a:ext cx="16002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56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C$54.64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140610"/>
            <a:ext cx="160020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per Ero share (30% premium)</a:t>
            </a:r>
            <a:endParaRPr lang="en-US" sz="1200" dirty="0"/>
          </a:p>
        </p:txBody>
      </p:sp>
      <p:sp>
        <p:nvSpPr>
          <p:cNvPr id="8" name="card 2027E EPS accretion"/>
          <p:cNvSpPr/>
          <p:nvPr/>
        </p:nvSpPr>
        <p:spPr>
          <a:xfrm>
            <a:off x="9784080" y="1371600"/>
            <a:ext cx="1965960" cy="13258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966960" y="1508760"/>
            <a:ext cx="16002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+33%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966960" y="2140610"/>
            <a:ext cx="160020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2027E EPS accretion</a:t>
            </a:r>
            <a:endParaRPr lang="en-US" sz="1200" dirty="0"/>
          </a:p>
        </p:txBody>
      </p:sp>
      <p:sp>
        <p:nvSpPr>
          <p:cNvPr id="11" name="card 2028E CFPS accretion"/>
          <p:cNvSpPr/>
          <p:nvPr/>
        </p:nvSpPr>
        <p:spPr>
          <a:xfrm>
            <a:off x="7589520" y="2926080"/>
            <a:ext cx="1965960" cy="13258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0" y="3063240"/>
            <a:ext cx="16002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+33%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3695090"/>
            <a:ext cx="160020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2028E CFPS accretion</a:t>
            </a:r>
            <a:endParaRPr lang="en-US" sz="1200" dirty="0"/>
          </a:p>
        </p:txBody>
      </p:sp>
      <p:sp>
        <p:nvSpPr>
          <p:cNvPr id="14" name="card Run-rate synergies"/>
          <p:cNvSpPr/>
          <p:nvPr/>
        </p:nvSpPr>
        <p:spPr>
          <a:xfrm>
            <a:off x="9784080" y="2926080"/>
            <a:ext cx="1965960" cy="13258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966960" y="3063240"/>
            <a:ext cx="16002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56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US$155M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9966960" y="3695090"/>
            <a:ext cx="160020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Run-rate synergies</a:t>
            </a:r>
            <a:endParaRPr lang="en-US" sz="1200" dirty="0"/>
          </a:p>
        </p:txBody>
      </p:sp>
      <p:sp>
        <p:nvSpPr>
          <p:cNvPr id="17" name="card NAVPS at analyst deck"/>
          <p:cNvSpPr/>
          <p:nvPr/>
        </p:nvSpPr>
        <p:spPr>
          <a:xfrm>
            <a:off x="7589520" y="4480560"/>
            <a:ext cx="1965960" cy="13258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0" y="4617720"/>
            <a:ext cx="16002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–14%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0" y="5249570"/>
            <a:ext cx="160020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NAVPS at analyst deck</a:t>
            </a:r>
            <a:endParaRPr lang="en-US" sz="1200" dirty="0"/>
          </a:p>
        </p:txBody>
      </p:sp>
      <p:sp>
        <p:nvSpPr>
          <p:cNvPr id="20" name="card Pro forma Centerra ownership"/>
          <p:cNvSpPr/>
          <p:nvPr/>
        </p:nvSpPr>
        <p:spPr>
          <a:xfrm>
            <a:off x="9784080" y="4480560"/>
            <a:ext cx="1965960" cy="13258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966960" y="4617720"/>
            <a:ext cx="16002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D4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9966960" y="5249570"/>
            <a:ext cx="160020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forma Centerra ownership</a:t>
            </a:r>
            <a:endParaRPr lang="en-US" sz="1200" dirty="0"/>
          </a:p>
        </p:txBody>
      </p:sp>
      <p:sp>
        <p:nvSpPr>
          <p:cNvPr id="23" name="source"/>
          <p:cNvSpPr txBox="1"/>
          <p:nvPr/>
        </p:nvSpPr>
        <p:spPr>
          <a:xfrm>
            <a:off x="457200" y="605332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yfinance market snapshot 2026-10-25; Lodestone model (model/lodestone_model.xlsx)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offer values Ero at US$4.5Bn EV, 8.0x 2027E EBITDA, and leaves Centerra holders with 57%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658368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terms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Ero unaffected share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C$42.03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premium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price per Ero 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C$54.64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per share / stock per 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C$13.66 / C$40.98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 ratio (Centerra shares per Ero share)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1.4470x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Centerra shares issued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150.9M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purchase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US$4.1Bn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Plus: Ero net debt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US$472M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enterprise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US$4.5Bn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EV / 2027E EBITDA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P/NAV (reserve-only NAV, analyst deck)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3.07x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7498080" y="1325880"/>
          <a:ext cx="4206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498080" y="5349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349.5M pro forma shares outstanding</a:t>
            </a:r>
            <a:endParaRPr lang="en-US" sz="1200" dirty="0"/>
          </a:p>
        </p:txBody>
      </p:sp>
      <p:sp>
        <p:nvSpPr>
          <p:cNvPr id="7" name="source"/>
          <p:cNvSpPr txBox="1"/>
          <p:nvPr/>
        </p:nvSpPr>
        <p:spPr>
          <a:xfrm>
            <a:off x="457200" y="605332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yfinance market snapshot 2026-10-25; Lodestone model (model/lodestone_model.xlsx)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deck sits well below spot for both metals, so the case does not rely on today's prices holding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32588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1"/>
          <p:cNvSpPr txBox="1"/>
          <p:nvPr/>
        </p:nvSpPr>
        <p:spPr>
          <a:xfrm>
            <a:off x="457200" y="4754880"/>
            <a:ext cx="112772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Copper: deck of US$6.00/lb in 2027 stepping to US$5.00/lb long-term, versus spot of US$6.48/lb. Electrification demand meets mine-supply growth below 2% a year.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deck of US$3,900/oz in 2027 stepping to US$3,300/oz long-term, versus spot of US$4,008/oz.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NAV and accretion figure in this book uses the deck unless stated otherwise; spot cases appear on the scenario and sensitivity pages.</a:t>
            </a:r>
            <a:endParaRPr lang="en-US" sz="1300" dirty="0"/>
          </a:p>
        </p:txBody>
      </p:sp>
      <p:sp>
        <p:nvSpPr>
          <p:cNvPr id="7" name="source"/>
          <p:cNvSpPr txBox="1"/>
          <p:nvPr/>
        </p:nvSpPr>
        <p:spPr>
          <a:xfrm>
            <a:off x="457200" y="605332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COMEX HG and GC front-month (yfinance); Lodestone price deck (data/price_deck.csv)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Centerra: an essentially debt-free gold producer whose copper is streamed and whose Öksüt mine ends by 2029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1838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00200"/>
                <a:gridCol w="1188720"/>
                <a:gridCol w="1051560"/>
                <a:gridCol w="160020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 life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LOM AISC (by-product)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 Milligan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 (BC)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gold-copper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yrs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US$1,275/oz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US$928M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Öksüt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Türkiye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yrs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US$1,931/oz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US$298M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(Nevada)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yrs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US$1,563/oz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US$239M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rd Share price"/>
          <p:cNvSpPr/>
          <p:nvPr/>
        </p:nvSpPr>
        <p:spPr>
          <a:xfrm>
            <a:off x="457200" y="3246120"/>
            <a:ext cx="1920240" cy="118872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" y="33832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C$28.32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3935578"/>
            <a:ext cx="155448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price</a:t>
            </a:r>
            <a:endParaRPr lang="en-US" sz="1200" dirty="0"/>
          </a:p>
        </p:txBody>
      </p:sp>
      <p:sp>
        <p:nvSpPr>
          <p:cNvPr id="8" name="card Market capitalisation"/>
          <p:cNvSpPr/>
          <p:nvPr/>
        </p:nvSpPr>
        <p:spPr>
          <a:xfrm>
            <a:off x="2560320" y="3246120"/>
            <a:ext cx="1920240" cy="118872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743200" y="33832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US$4.0Bn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2743200" y="3935578"/>
            <a:ext cx="155448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capitalisation</a:t>
            </a:r>
            <a:endParaRPr lang="en-US" sz="1200" dirty="0"/>
          </a:p>
        </p:txBody>
      </p:sp>
      <p:sp>
        <p:nvSpPr>
          <p:cNvPr id="11" name="card NAV (deck)"/>
          <p:cNvSpPr/>
          <p:nvPr/>
        </p:nvSpPr>
        <p:spPr>
          <a:xfrm>
            <a:off x="4663440" y="3246120"/>
            <a:ext cx="1920240" cy="118872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846320" y="33832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US$1.7Bn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3935578"/>
            <a:ext cx="155448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(deck)</a:t>
            </a:r>
            <a:endParaRPr lang="en-US" sz="1200" dirty="0"/>
          </a:p>
        </p:txBody>
      </p:sp>
      <p:sp>
        <p:nvSpPr>
          <p:cNvPr id="14" name="card P/NAV (deck)"/>
          <p:cNvSpPr/>
          <p:nvPr/>
        </p:nvSpPr>
        <p:spPr>
          <a:xfrm>
            <a:off x="6766560" y="3246120"/>
            <a:ext cx="1920240" cy="118872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949440" y="33832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2.38x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6949440" y="3935578"/>
            <a:ext cx="155448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P/NAV (deck)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466344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Milligan's PFS extends life to 2045, but 35% of its gold and 18.75% of its copper go to Royal Gold at a fraction of spot.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Öksüt has ~3 years of reserves left; Goldfield is a gold development project. Organic copper growth is limited.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US$453M of cash against US$46M of debt gives the capacity to pay part of the price in cash.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8915400" y="1280160"/>
          <a:ext cx="2834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ource"/>
          <p:cNvSpPr txBox="1"/>
          <p:nvPr/>
        </p:nvSpPr>
        <p:spPr>
          <a:xfrm>
            <a:off x="457200" y="605332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Centerra Gold NI 43-101 reports, MD&amp;A and reserve statements (see appendix); yfinance market snapshot 2026-10-25; Lodestone model (model/lodestone_model.xlsx)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Ero: two built Brazilian copper mines, now generating cash, but carrying US$575M of notes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1838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00200"/>
                <a:gridCol w="1188720"/>
                <a:gridCol w="1051560"/>
                <a:gridCol w="160020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 life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LOM AISC (by-product)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Caraíba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(Bahia)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yrs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US$3.37/lb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US$971M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Tucumã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(Pará)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yrs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US$2.60/lb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US$936M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Xavantina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(Mato Grosso)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yrs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US$2,478/oz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US$100M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rd Share price"/>
          <p:cNvSpPr/>
          <p:nvPr/>
        </p:nvSpPr>
        <p:spPr>
          <a:xfrm>
            <a:off x="457200" y="3246120"/>
            <a:ext cx="1920240" cy="118872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" y="33832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56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C$42.03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3935578"/>
            <a:ext cx="155448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price</a:t>
            </a:r>
            <a:endParaRPr lang="en-US" sz="1200" dirty="0"/>
          </a:p>
        </p:txBody>
      </p:sp>
      <p:sp>
        <p:nvSpPr>
          <p:cNvPr id="8" name="card Market capitalisation"/>
          <p:cNvSpPr/>
          <p:nvPr/>
        </p:nvSpPr>
        <p:spPr>
          <a:xfrm>
            <a:off x="2560320" y="3246120"/>
            <a:ext cx="1920240" cy="118872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743200" y="33832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56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US$3.1Bn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2743200" y="3935578"/>
            <a:ext cx="155448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capitalisation</a:t>
            </a:r>
            <a:endParaRPr lang="en-US" sz="1200" dirty="0"/>
          </a:p>
        </p:txBody>
      </p:sp>
      <p:sp>
        <p:nvSpPr>
          <p:cNvPr id="11" name="card NAV (deck)"/>
          <p:cNvSpPr/>
          <p:nvPr/>
        </p:nvSpPr>
        <p:spPr>
          <a:xfrm>
            <a:off x="4663440" y="3246120"/>
            <a:ext cx="1920240" cy="118872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846320" y="33832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56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US$1.3Bn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3935578"/>
            <a:ext cx="155448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(deck)</a:t>
            </a:r>
            <a:endParaRPr lang="en-US" sz="1200" dirty="0"/>
          </a:p>
        </p:txBody>
      </p:sp>
      <p:sp>
        <p:nvSpPr>
          <p:cNvPr id="14" name="card P/NAV (deck)"/>
          <p:cNvSpPr/>
          <p:nvPr/>
        </p:nvSpPr>
        <p:spPr>
          <a:xfrm>
            <a:off x="6766560" y="3246120"/>
            <a:ext cx="1920240" cy="118872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949440" y="33832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56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2.36x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6949440" y="3935578"/>
            <a:ext cx="155448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P/NAV (deck)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466344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Caraíba (Bahia) and the newly built Tucumã (Pará): 67.5–77.5 kt of 2026 copper guidance and 17- and 9-year reserve lives.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Xavantina adds gold, but Ero is ~85% copper by 2027E revenue, the exposure Centerra lacks.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debt of US$472M and remaining growth spend limit Ero's ability to fund the next phase alone.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8915400" y="1280160"/>
          <a:ext cx="2834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ource"/>
          <p:cNvSpPr txBox="1"/>
          <p:nvPr/>
        </p:nvSpPr>
        <p:spPr>
          <a:xfrm>
            <a:off x="457200" y="605332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Ero Copper NI 43-101 reports, MD&amp;A and reserve statements (see appendix); yfinance market snapshot 2026-10-25; Lodestone model (model/lodestone_model.xlsx)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reasons the combination is worth more than the two companies apart</a:t>
            </a:r>
            <a:endParaRPr lang="en-US" sz="2400" dirty="0"/>
          </a:p>
        </p:txBody>
      </p:sp>
      <p:sp>
        <p:nvSpPr>
          <p:cNvPr id="4" name="rationale 1"/>
          <p:cNvSpPr/>
          <p:nvPr/>
        </p:nvSpPr>
        <p:spPr>
          <a:xfrm>
            <a:off x="457200" y="1417320"/>
            <a:ext cx="2613584" cy="4389120"/>
          </a:xfrm>
          <a:prstGeom prst="rect">
            <a:avLst/>
          </a:prstGeom>
          <a:solidFill>
            <a:srgbClr val="F4E6DC"/>
          </a:solidFill>
          <a:ln w="12700">
            <a:solidFill>
              <a:srgbClr val="F4E6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sheet room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63240"/>
            <a:ext cx="2156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1.0x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840480"/>
            <a:ext cx="21563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forma net debt / 2027E EBITDA. Centerra's net cash absorbs Ero's notes and the cash portion of the offer.</a:t>
            </a:r>
            <a:endParaRPr lang="en-US" sz="1300" dirty="0"/>
          </a:p>
        </p:txBody>
      </p:sp>
      <p:sp>
        <p:nvSpPr>
          <p:cNvPr id="10" name="rationale 2"/>
          <p:cNvSpPr/>
          <p:nvPr/>
        </p:nvSpPr>
        <p:spPr>
          <a:xfrm>
            <a:off x="3345104" y="1417320"/>
            <a:ext cx="2613584" cy="4389120"/>
          </a:xfrm>
          <a:prstGeom prst="rect">
            <a:avLst/>
          </a:prstGeom>
          <a:solidFill>
            <a:srgbClr val="F5EDD9"/>
          </a:solidFill>
          <a:ln w="12700">
            <a:solidFill>
              <a:srgbClr val="F5ED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73704" y="1645920"/>
            <a:ext cx="548640" cy="548640"/>
          </a:xfrm>
          <a:prstGeom prst="ellipse">
            <a:avLst/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73704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573704" y="237744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Complementary metal mix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573704" y="3063240"/>
            <a:ext cx="2156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 Mlb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3573704" y="3840480"/>
            <a:ext cx="21563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forma 2027E payable copper, 3.4x Centerra's own output, and none of Ero's copper is streamed.</a:t>
            </a:r>
            <a:endParaRPr lang="en-US" sz="1300" dirty="0"/>
          </a:p>
        </p:txBody>
      </p:sp>
      <p:sp>
        <p:nvSpPr>
          <p:cNvPr id="16" name="rationale 3"/>
          <p:cNvSpPr/>
          <p:nvPr/>
        </p:nvSpPr>
        <p:spPr>
          <a:xfrm>
            <a:off x="6233008" y="1417320"/>
            <a:ext cx="2613584" cy="4389120"/>
          </a:xfrm>
          <a:prstGeom prst="rect">
            <a:avLst/>
          </a:prstGeom>
          <a:solidFill>
            <a:srgbClr val="F4E6DC"/>
          </a:solidFill>
          <a:ln w="12700">
            <a:solidFill>
              <a:srgbClr val="F4E6D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61608" y="1645920"/>
            <a:ext cx="548640" cy="548640"/>
          </a:xfrm>
          <a:prstGeom prst="ellipse">
            <a:avLst/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61608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461608" y="237744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 life and jurisdiction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461608" y="3063240"/>
            <a:ext cx="2156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yrs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6461608" y="3840480"/>
            <a:ext cx="21563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Caraíba reserve life. Brazilian copper replaces Öksüt, which has ~3 years left, and lowers the weight of Türkiye in cash flow.</a:t>
            </a:r>
            <a:endParaRPr lang="en-US" sz="1300" dirty="0"/>
          </a:p>
        </p:txBody>
      </p:sp>
      <p:sp>
        <p:nvSpPr>
          <p:cNvPr id="22" name="rationale 4"/>
          <p:cNvSpPr/>
          <p:nvPr/>
        </p:nvSpPr>
        <p:spPr>
          <a:xfrm>
            <a:off x="9120911" y="1417320"/>
            <a:ext cx="2613584" cy="4389120"/>
          </a:xfrm>
          <a:prstGeom prst="rect">
            <a:avLst/>
          </a:prstGeom>
          <a:solidFill>
            <a:srgbClr val="F5EDD9"/>
          </a:solidFill>
          <a:ln w="12700">
            <a:solidFill>
              <a:srgbClr val="F5ED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349511" y="1645920"/>
            <a:ext cx="548640" cy="548640"/>
          </a:xfrm>
          <a:prstGeom prst="ellipse">
            <a:avLst/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349511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9349511" y="237744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fit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9349511" y="3063240"/>
            <a:ext cx="2156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US$155M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9349511" y="3840480"/>
            <a:ext cx="21563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Run-rate synergies from one head office, joint procurement and concentrate marketing, and shared technical services.</a:t>
            </a:r>
            <a:endParaRPr lang="en-US" sz="1300" dirty="0"/>
          </a:p>
        </p:txBody>
      </p:sp>
      <p:sp>
        <p:nvSpPr>
          <p:cNvPr id="28" name="source"/>
          <p:cNvSpPr txBox="1"/>
          <p:nvPr/>
        </p:nvSpPr>
        <p:spPr>
          <a:xfrm>
            <a:off x="457200" y="605332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Lodestone model: Corporate_NAV, Merger and Synergies tabs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forma, the company produces ~579 koz AuEq in 2027E, 53% of it from copper versus 27% for Centerra alone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7315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1371600"/>
          <a:ext cx="38862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forma company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US$7.1Bn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2027E EBITDA (incl. synergies)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US$1.1Bn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2028E EBITDA (incl. synergies)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US$1.1Bn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asset value (deck)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US$2.6Bn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2027E payable copper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Mlb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assets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+ Goldfield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debt / 2027E EBITDA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ource"/>
          <p:cNvSpPr txBox="1"/>
          <p:nvPr/>
        </p:nvSpPr>
        <p:spPr>
          <a:xfrm>
            <a:off x="457200" y="605332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Lodestone model: asset tabs (attributable payable metal) and Merger tab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mine-by-mine NAVs: Ero's two copper mines are worth more than any Centerra asset except Mount Milligan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60350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371600"/>
          <a:ext cx="516636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097280"/>
                <a:gridCol w="1005840"/>
                <a:gridCol w="868680"/>
                <a:gridCol w="685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P&amp;P reserve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Caraíba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 Mt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0.90% Cu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yrs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Tucumã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43.1 Mt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0.83% Cu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yrs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 Milligan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470.3 Mt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 g/t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yrs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Öksüt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 Mt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 g/t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yrs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 Mt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 g/t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yrs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Xavantina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 Mt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6.80 g/t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yrs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6720840" y="4297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NAVs are reserve-only: no value for resources outside the mine plan, which is why both stocks trade above 1.0x.</a:t>
            </a:r>
            <a:endParaRPr lang="en-US" sz="1200" dirty="0"/>
          </a:p>
        </p:txBody>
      </p:sp>
      <p:sp>
        <p:nvSpPr>
          <p:cNvPr id="7" name="source"/>
          <p:cNvSpPr txBox="1"/>
          <p:nvPr/>
        </p:nvSpPr>
        <p:spPr>
          <a:xfrm>
            <a:off x="457200" y="605332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 43-101 technical reports and reserve statements; Lodestone asset tabs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stocks trade at similar multiples of our NAV: 2.38x for Centerra and 2.36x for Ero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60350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US$M unless noted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Attributable asset NAV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US$1.5Bn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US$2.0Bn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G&amp;A (capitalised)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(US$386M)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(US$309M)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assets and exploration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US$200M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US$100M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US$453M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US$102M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(US$46M)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(US$573M)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asset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US$1.7Bn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US$1.3Bn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Shares outstanding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198.6M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104.3M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per 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C$11.89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C$17.80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C$28.32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C$42.03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P/NAV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2.38x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2.36x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6766560" y="1325880"/>
          <a:ext cx="49377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ource"/>
          <p:cNvSpPr txBox="1"/>
          <p:nvPr/>
        </p:nvSpPr>
        <p:spPr>
          <a:xfrm>
            <a:off x="457200" y="605332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Lodestone model: Corporate_NAV and Scenarios tabs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Trading comparables: Ero trades in line with copper peers on EV/EBITDA and below them on cash flow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960120"/>
                <a:gridCol w="1234440"/>
                <a:gridCol w="1234440"/>
                <a:gridCol w="1143000"/>
                <a:gridCol w="960120"/>
                <a:gridCol w="960120"/>
                <a:gridCol w="146304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EV/EBITDA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P/CF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P/NAV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Reserves (Mt CuEq)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 / lb CuEq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Centerra Gold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C$28.32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US$4.0Bn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US$3.6Bn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2.38x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US$0.73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Ero Copper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C$42.03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US$3.1Bn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US$3.6Bn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2.36x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US$1.66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D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Capstone Copper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C$11.19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US$6.1Bn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US$7.3Bn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US$0.47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Torex Gold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C$67.14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US$4.4Bn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US$4.4Bn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US$1.47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OceanaGold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C$34.67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US$5.5Bn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US$4.9Bn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US$1.24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SSR Mining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C$39.75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US$5.9Bn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US$4.1Bn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US$0.68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Hudbay Minerals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C$30.76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US$9.8Bn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US$9.9Bn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US$0.60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Lundin Mining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C$29.50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US$17.9Bn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US$18.1Bn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Eldorado Gold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C$44.32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US$8.3Bn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US$9.5Bn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DPM Metals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C$56.02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US$8.8Bn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US$8.0Bn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IAMGOLD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C$22.72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US$9.3Bn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US$9.3Bn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Equinox Gold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C$14.13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US$11.8Bn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US$12.1Bn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US$0.92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median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25th percentile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US$0.74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75th percentile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"/>
          <p:cNvSpPr txBox="1"/>
          <p:nvPr/>
        </p:nvSpPr>
        <p:spPr>
          <a:xfrm>
            <a:off x="457200" y="605332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yfinance market snapshot 2026-10-25; Lodestone model (model/lodestone_model.xlsx). P/NAV shown only where a NAV is modelled; peer reserves are estimates (data/peer_inputs.csv)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Precedent copper and gold deals paid a median 31% premium; our 30% sits in the middle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148840"/>
                <a:gridCol w="2148840"/>
                <a:gridCol w="1188720"/>
                <a:gridCol w="1463040"/>
                <a:gridCol w="1280160"/>
                <a:gridCol w="960120"/>
                <a:gridCol w="8686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Acquirer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Consideration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P/NAV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Coeur Mining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Gold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gold-copper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US$7.0Bn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Harmony Gold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 Copper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All-cash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US$1.0Bn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Equinox Gold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Calibre Mining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US$1.8Bn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Northern Star Resources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Grey Mining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US$3.3Bn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Fields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Osisko Mining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All-cash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US$1.6Bn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BHP / Lundin Mining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Filo Corp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copper-gold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and 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US$3.3Bn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Newmont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Newcrest Mining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gold-copper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US$19.2Bn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Hudbay Minerals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Copper Mountain Mining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US$439M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Lundin Mining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Josemaria Resources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copper-gold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and 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US$485M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rd 25th percentile premium"/>
          <p:cNvSpPr/>
          <p:nvPr/>
        </p:nvSpPr>
        <p:spPr>
          <a:xfrm>
            <a:off x="457200" y="4800600"/>
            <a:ext cx="2651760" cy="10972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" y="4937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D4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5437022"/>
            <a:ext cx="228600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25th percentile premium</a:t>
            </a:r>
            <a:endParaRPr lang="en-US" sz="1200" dirty="0"/>
          </a:p>
        </p:txBody>
      </p:sp>
      <p:sp>
        <p:nvSpPr>
          <p:cNvPr id="8" name="card Median premium"/>
          <p:cNvSpPr/>
          <p:nvPr/>
        </p:nvSpPr>
        <p:spPr>
          <a:xfrm>
            <a:off x="3319272" y="4800600"/>
            <a:ext cx="2651760" cy="10972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502152" y="4937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D4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3502152" y="5437022"/>
            <a:ext cx="228600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premium</a:t>
            </a:r>
            <a:endParaRPr lang="en-US" sz="1200" dirty="0"/>
          </a:p>
        </p:txBody>
      </p:sp>
      <p:sp>
        <p:nvSpPr>
          <p:cNvPr id="11" name="card 75th percentile premium"/>
          <p:cNvSpPr/>
          <p:nvPr/>
        </p:nvSpPr>
        <p:spPr>
          <a:xfrm>
            <a:off x="6181344" y="4800600"/>
            <a:ext cx="2651760" cy="10972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364224" y="4937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D4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6364224" y="5437022"/>
            <a:ext cx="228600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75th percentile premium</a:t>
            </a:r>
            <a:endParaRPr lang="en-US" sz="1200" dirty="0"/>
          </a:p>
        </p:txBody>
      </p:sp>
      <p:sp>
        <p:nvSpPr>
          <p:cNvPr id="14" name="card Lodestone offer premium"/>
          <p:cNvSpPr/>
          <p:nvPr/>
        </p:nvSpPr>
        <p:spPr>
          <a:xfrm>
            <a:off x="9043416" y="4800600"/>
            <a:ext cx="2651760" cy="10972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226296" y="4937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56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9226296" y="5437022"/>
            <a:ext cx="228600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Lodestone offer premium</a:t>
            </a:r>
            <a:endParaRPr lang="en-US" sz="1200" dirty="0"/>
          </a:p>
        </p:txBody>
      </p:sp>
      <p:sp>
        <p:nvSpPr>
          <p:cNvPr id="17" name="source"/>
          <p:cNvSpPr txBox="1"/>
          <p:nvPr/>
        </p:nvSpPr>
        <p:spPr>
          <a:xfrm>
            <a:off x="457200" y="605332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Company press releases at announcement; FactSet (P/NAV benchmarks). Premiums to undisturbed price as reported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C$54.64 offer sits inside most valuation ranges and at the low end of precedent premiums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11277295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170556" y="1551508"/>
            <a:ext cx="82296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C$27.22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9068928" y="1551508"/>
            <a:ext cx="82296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C$56.62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178140" y="2042998"/>
            <a:ext cx="82296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C$47.00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223948" y="2042998"/>
            <a:ext cx="82296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C$68.00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4989006" y="2534488"/>
            <a:ext cx="82296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C$25.43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8508447" y="2534488"/>
            <a:ext cx="82296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C$51.10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6227303" y="3025978"/>
            <a:ext cx="82296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C$37.63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0411381" y="3025978"/>
            <a:ext cx="82296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C$69.85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3949667" y="3517468"/>
            <a:ext cx="82296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C$15.19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6223751" y="3517468"/>
            <a:ext cx="82296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C$28.59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7953465" y="4008958"/>
            <a:ext cx="82296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C$54.64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9166475" y="4008958"/>
            <a:ext cx="82296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C$57.58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6711470" y="4500448"/>
            <a:ext cx="82296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C$42.40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8173582" y="4500448"/>
            <a:ext cx="82296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C$47.80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4214774" y="4991938"/>
            <a:ext cx="82296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C$17.80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6822063" y="4991938"/>
            <a:ext cx="82296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C$34.48</a:t>
            </a:r>
            <a:endParaRPr lang="en-US" sz="1000" dirty="0"/>
          </a:p>
        </p:txBody>
      </p:sp>
      <p:sp>
        <p:nvSpPr>
          <p:cNvPr id="21" name="offer line"/>
          <p:cNvSpPr/>
          <p:nvPr/>
        </p:nvSpPr>
        <p:spPr>
          <a:xfrm>
            <a:off x="8822145" y="1463040"/>
            <a:ext cx="0" cy="3931920"/>
          </a:xfrm>
          <a:prstGeom prst="line">
            <a:avLst/>
          </a:prstGeom>
          <a:noFill/>
          <a:ln w="25400">
            <a:solidFill>
              <a:srgbClr val="16222E"/>
            </a:solidFill>
            <a:prstDash val="dash"/>
          </a:ln>
        </p:spPr>
      </p:sp>
      <p:sp>
        <p:nvSpPr>
          <p:cNvPr id="22" name="Text 18"/>
          <p:cNvSpPr txBox="1"/>
          <p:nvPr/>
        </p:nvSpPr>
        <p:spPr>
          <a:xfrm>
            <a:off x="8090625" y="1051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C$54.64</a:t>
            </a:r>
            <a:endParaRPr lang="en-US" sz="1200" dirty="0"/>
          </a:p>
        </p:txBody>
      </p:sp>
      <p:sp>
        <p:nvSpPr>
          <p:cNvPr id="23" name="source"/>
          <p:cNvSpPr txBox="1"/>
          <p:nvPr/>
        </p:nvSpPr>
        <p:spPr>
          <a:xfrm>
            <a:off x="457200" y="605332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Lodestone model: Football_Field tab (ranges per Ero share, C$)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Strongly accretive to EPS and CFPS; NAVPS –14% at our deck, which the synergies only partly offset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60350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371600"/>
          <a:ext cx="49377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EPS (US$)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forma EPS (US$)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CFPS (US$)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forma CFPS (US$)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After-tax synergies (US$M)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After-tax financing cost (US$M)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4206240"/>
          <a:ext cx="49377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per 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NAVPS (US$)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forma NAVPS (US$)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NAVPS before synergies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NAVPS after synergies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7" name="source"/>
          <p:cNvSpPr txBox="1"/>
          <p:nvPr/>
        </p:nvSpPr>
        <p:spPr>
          <a:xfrm>
            <a:off x="457200" y="605332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Lodestone model: Merger tab. Excludes one-off integration and transaction costs and purchase price allocation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NAVPS turns accretive at ~US$5.88/lb copper; EPS stays accretive even with no synergies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574243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04672"/>
                <a:gridCol w="804672"/>
                <a:gridCol w="804672"/>
                <a:gridCol w="804672"/>
                <a:gridCol w="804672"/>
                <a:gridCol w="80467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US$4.00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US$4.50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US$6.00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US$6.50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–45%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–47%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–28%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–53%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–55%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–21%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–58%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–24%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13258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NAVPS accretion: offer premium vs flat copper price (US$/lb)</a:t>
            </a:r>
            <a:endParaRPr lang="en-US" sz="13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4864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868680"/>
                <a:gridCol w="868680"/>
                <a:gridCol w="868680"/>
                <a:gridCol w="868680"/>
                <a:gridCol w="8686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Synergies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cash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 cash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cash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 cash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cash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US$100M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US$155M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US$200M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6400800" y="1325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2028E EPS accretion: run-rate synergies vs cash portion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457200" y="4343400"/>
            <a:ext cx="112772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30% premium, every US$0.50/lb on copper moves NAVPS accretion by roughly 11 points: the NAV case is a copper call.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cash in the mix raises EPS accretion because Centerra's stock is the more expensive currency, at the cost of leverage.</a:t>
            </a:r>
            <a:endParaRPr lang="en-US" sz="1300" dirty="0"/>
          </a:p>
        </p:txBody>
      </p:sp>
      <p:sp>
        <p:nvSpPr>
          <p:cNvPr id="9" name="source"/>
          <p:cNvSpPr txBox="1"/>
          <p:nvPr/>
        </p:nvSpPr>
        <p:spPr>
          <a:xfrm>
            <a:off x="457200" y="605332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Lodestone model: Sensitivity and Scenarios tabs (each copper case is a full recalculation of the workbook)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US$155M of run-rate synergies, worth US$630M after tax and integration costs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58521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G&amp;A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head office, board, listing and IT: removes ~50% of combined US$90M corporate G&amp;A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and concentrate marketing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~6% of the combined ~US$1.1Bn site cash cost and sustaining capex base (reagents, energy, grinding media, freight, smelter terms)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and technical services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technical services and fleet maintenance practices across six sites; exploration budget rationalisation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rd 2027E (50% phase-in)"/>
          <p:cNvSpPr/>
          <p:nvPr/>
        </p:nvSpPr>
        <p:spPr>
          <a:xfrm>
            <a:off x="457200" y="4800600"/>
            <a:ext cx="2651760" cy="10972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640080" y="4937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D4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US$78M</a:t>
            </a:r>
            <a:endParaRPr lang="en-US" sz="3000" dirty="0"/>
          </a:p>
        </p:txBody>
      </p:sp>
      <p:sp>
        <p:nvSpPr>
          <p:cNvPr id="8" name="Text 3"/>
          <p:cNvSpPr txBox="1"/>
          <p:nvPr/>
        </p:nvSpPr>
        <p:spPr>
          <a:xfrm>
            <a:off x="640080" y="5437022"/>
            <a:ext cx="228600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2027E (50% phase-in)</a:t>
            </a:r>
            <a:endParaRPr lang="en-US" sz="1200" dirty="0"/>
          </a:p>
        </p:txBody>
      </p:sp>
      <p:sp>
        <p:nvSpPr>
          <p:cNvPr id="9" name="card 2028E (full run-rate)"/>
          <p:cNvSpPr/>
          <p:nvPr/>
        </p:nvSpPr>
        <p:spPr>
          <a:xfrm>
            <a:off x="3319272" y="4800600"/>
            <a:ext cx="2651760" cy="10972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3502152" y="4937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D4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US$155M</a:t>
            </a:r>
            <a:endParaRPr lang="en-US" sz="3000" dirty="0"/>
          </a:p>
        </p:txBody>
      </p:sp>
      <p:sp>
        <p:nvSpPr>
          <p:cNvPr id="11" name="Text 6"/>
          <p:cNvSpPr txBox="1"/>
          <p:nvPr/>
        </p:nvSpPr>
        <p:spPr>
          <a:xfrm>
            <a:off x="3502152" y="5437022"/>
            <a:ext cx="228600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2028E (full run-rate)</a:t>
            </a:r>
            <a:endParaRPr lang="en-US" sz="1200" dirty="0"/>
          </a:p>
        </p:txBody>
      </p:sp>
      <p:sp>
        <p:nvSpPr>
          <p:cNvPr id="12" name="card One-off cost to achieve"/>
          <p:cNvSpPr/>
          <p:nvPr/>
        </p:nvSpPr>
        <p:spPr>
          <a:xfrm>
            <a:off x="6181344" y="4800600"/>
            <a:ext cx="2651760" cy="10972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364224" y="4937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D4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US$155M</a:t>
            </a:r>
            <a:endParaRPr lang="en-US" sz="3000" dirty="0"/>
          </a:p>
        </p:txBody>
      </p:sp>
      <p:sp>
        <p:nvSpPr>
          <p:cNvPr id="14" name="Text 9"/>
          <p:cNvSpPr txBox="1"/>
          <p:nvPr/>
        </p:nvSpPr>
        <p:spPr>
          <a:xfrm>
            <a:off x="6364224" y="5437022"/>
            <a:ext cx="228600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cost to achieve</a:t>
            </a:r>
            <a:endParaRPr lang="en-US" sz="1200" dirty="0"/>
          </a:p>
        </p:txBody>
      </p:sp>
      <p:sp>
        <p:nvSpPr>
          <p:cNvPr id="15" name="card NPV, after tax"/>
          <p:cNvSpPr/>
          <p:nvPr/>
        </p:nvSpPr>
        <p:spPr>
          <a:xfrm>
            <a:off x="9043416" y="4800600"/>
            <a:ext cx="2651760" cy="10972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226296" y="4937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56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US$630M</a:t>
            </a:r>
            <a:endParaRPr lang="en-US" sz="3000" dirty="0"/>
          </a:p>
        </p:txBody>
      </p:sp>
      <p:sp>
        <p:nvSpPr>
          <p:cNvPr id="17" name="Text 12"/>
          <p:cNvSpPr txBox="1"/>
          <p:nvPr/>
        </p:nvSpPr>
        <p:spPr>
          <a:xfrm>
            <a:off x="9226296" y="5437022"/>
            <a:ext cx="228600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NPV, after tax</a:t>
            </a:r>
            <a:endParaRPr lang="en-US" sz="1200" dirty="0"/>
          </a:p>
        </p:txBody>
      </p:sp>
      <p:sp>
        <p:nvSpPr>
          <p:cNvPr id="18" name="source"/>
          <p:cNvSpPr txBox="1"/>
          <p:nvPr/>
        </p:nvSpPr>
        <p:spPr>
          <a:xfrm>
            <a:off x="457200" y="605332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Lodestone model: Synergies tab; combined cost base from asset tabs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Ero contributes 53% of 2027E EBITDA but its holders receive 43% of the company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78638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 Centerra pro forma ownership"/>
          <p:cNvSpPr/>
          <p:nvPr/>
        </p:nvSpPr>
        <p:spPr>
          <a:xfrm>
            <a:off x="8686800" y="1463040"/>
            <a:ext cx="3017520" cy="137160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869680" y="1600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8869680" y="225856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Centerra pro forma ownership</a:t>
            </a:r>
            <a:endParaRPr lang="en-US" sz="1200" dirty="0"/>
          </a:p>
        </p:txBody>
      </p:sp>
      <p:sp>
        <p:nvSpPr>
          <p:cNvPr id="8" name="card Ero pro forma ownership"/>
          <p:cNvSpPr/>
          <p:nvPr/>
        </p:nvSpPr>
        <p:spPr>
          <a:xfrm>
            <a:off x="8686800" y="3063240"/>
            <a:ext cx="3017520" cy="137160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869680" y="3200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56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8869680" y="385876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 pro forma ownership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686800" y="46634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sits between the earnings split and the NAV split, which is where a negotiated outcome usually lands.</a:t>
            </a:r>
            <a:endParaRPr lang="en-US" sz="1200" dirty="0"/>
          </a:p>
        </p:txBody>
      </p:sp>
      <p:sp>
        <p:nvSpPr>
          <p:cNvPr id="12" name="source"/>
          <p:cNvSpPr txBox="1"/>
          <p:nvPr/>
        </p:nvSpPr>
        <p:spPr>
          <a:xfrm>
            <a:off x="457200" y="605332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Lodestone model: Contribution tab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US$1.1Bn cash need is met from balance sheet cash and a US$773M term loan; leverage peaks at 1.0x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1206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4630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Centerra shares issued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US$3.1Bn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balance sheet cash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US$305M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acquisition term loan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US$773M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sources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US$4.1Bn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371600"/>
          <a:ext cx="53035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4630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consideration to Ero shareholders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US$3.1Bn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consideration to Ero shareholders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US$1.0Bn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costs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US$60M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uses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US$4.1Bn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6" name="card Pro forma net debt"/>
          <p:cNvSpPr/>
          <p:nvPr/>
        </p:nvSpPr>
        <p:spPr>
          <a:xfrm>
            <a:off x="457200" y="4023360"/>
            <a:ext cx="2651760" cy="128016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640080" y="4160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D4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US$1.1Bn</a:t>
            </a:r>
            <a:endParaRPr lang="en-US" sz="2400" dirty="0"/>
          </a:p>
        </p:txBody>
      </p:sp>
      <p:sp>
        <p:nvSpPr>
          <p:cNvPr id="8" name="Text 3"/>
          <p:cNvSpPr txBox="1"/>
          <p:nvPr/>
        </p:nvSpPr>
        <p:spPr>
          <a:xfrm>
            <a:off x="640080" y="4765853"/>
            <a:ext cx="228600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forma net debt</a:t>
            </a:r>
            <a:endParaRPr lang="en-US" sz="1200" dirty="0"/>
          </a:p>
        </p:txBody>
      </p:sp>
      <p:sp>
        <p:nvSpPr>
          <p:cNvPr id="9" name="card Net debt / 2027E EBITDA"/>
          <p:cNvSpPr/>
          <p:nvPr/>
        </p:nvSpPr>
        <p:spPr>
          <a:xfrm>
            <a:off x="3319272" y="4023360"/>
            <a:ext cx="2651760" cy="128016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3502152" y="4160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D4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1.0x</a:t>
            </a:r>
            <a:endParaRPr lang="en-US" sz="3000" dirty="0"/>
          </a:p>
        </p:txBody>
      </p:sp>
      <p:sp>
        <p:nvSpPr>
          <p:cNvPr id="11" name="Text 6"/>
          <p:cNvSpPr txBox="1"/>
          <p:nvPr/>
        </p:nvSpPr>
        <p:spPr>
          <a:xfrm>
            <a:off x="3502152" y="4765853"/>
            <a:ext cx="228600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debt / 2027E EBITDA</a:t>
            </a:r>
            <a:endParaRPr lang="en-US" sz="1200" dirty="0"/>
          </a:p>
        </p:txBody>
      </p:sp>
      <p:sp>
        <p:nvSpPr>
          <p:cNvPr id="12" name="card Assumed cost of new debt"/>
          <p:cNvSpPr/>
          <p:nvPr/>
        </p:nvSpPr>
        <p:spPr>
          <a:xfrm>
            <a:off x="6181344" y="4023360"/>
            <a:ext cx="2651760" cy="128016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364224" y="4160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D4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6.0%</a:t>
            </a:r>
            <a:endParaRPr lang="en-US" sz="3000" dirty="0"/>
          </a:p>
        </p:txBody>
      </p:sp>
      <p:sp>
        <p:nvSpPr>
          <p:cNvPr id="14" name="Text 9"/>
          <p:cNvSpPr txBox="1"/>
          <p:nvPr/>
        </p:nvSpPr>
        <p:spPr>
          <a:xfrm>
            <a:off x="6364224" y="4765853"/>
            <a:ext cx="228600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cost of new debt</a:t>
            </a:r>
            <a:endParaRPr lang="en-US" sz="1200" dirty="0"/>
          </a:p>
        </p:txBody>
      </p:sp>
      <p:sp>
        <p:nvSpPr>
          <p:cNvPr id="15" name="card Ero net debt assumed"/>
          <p:cNvSpPr/>
          <p:nvPr/>
        </p:nvSpPr>
        <p:spPr>
          <a:xfrm>
            <a:off x="9043416" y="4023360"/>
            <a:ext cx="2651760" cy="128016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226296" y="4160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D4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US$472M</a:t>
            </a:r>
            <a:endParaRPr lang="en-US" sz="3000" dirty="0"/>
          </a:p>
        </p:txBody>
      </p:sp>
      <p:sp>
        <p:nvSpPr>
          <p:cNvPr id="17" name="Text 12"/>
          <p:cNvSpPr txBox="1"/>
          <p:nvPr/>
        </p:nvSpPr>
        <p:spPr>
          <a:xfrm>
            <a:off x="9226296" y="4765853"/>
            <a:ext cx="228600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 net debt assumed</a:t>
            </a:r>
            <a:endParaRPr lang="en-US" sz="1200" dirty="0"/>
          </a:p>
        </p:txBody>
      </p:sp>
      <p:sp>
        <p:nvSpPr>
          <p:cNvPr id="18" name="source"/>
          <p:cNvSpPr txBox="1"/>
          <p:nvPr/>
        </p:nvSpPr>
        <p:spPr>
          <a:xfrm>
            <a:off x="457200" y="605332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Lodestone model: Merger tab. Minimum cash balance of US$250M retained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risks: jurisdiction, execution and the copper price, each with a mitigant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754880"/>
                <a:gridCol w="4599432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could go wrong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Jurisdiction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Brazil (Bahia, Pará, Mato Grosso) to Canada, Türkiye and Nevada; royalty, tax-incentive (SUDENE) and permitting changes.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has a long mining track record; Öksüt is 45% of Centerra's 2027E mine EBITDA today and 22% pro forma.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across three new sites in a new country; Tucumã still ramping up; key Ero staff retention.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Ero's Brazilian operating team intact; synergies are corporate and procurement-led, not site-level cuts.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Commodity prices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NAVPS accretion depends on copper: –53% at US$4.00/lb flat.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Deck is already below spot; consider a copper collar on part of Ero's 2027–28 output to protect leverage.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Shareholder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Centerra holders may resist NAV dilution and a premium for copper exposure.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with CFPS accretion, mine-life extension and re-rating to diversified copper-gold peers.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US$773M of new debt and Ero's notes (change-of-control).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Leverage of 1.0x; refinance Ero's notes on Centerra's credit.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"/>
          <p:cNvSpPr txBox="1"/>
          <p:nvPr/>
        </p:nvSpPr>
        <p:spPr>
          <a:xfrm>
            <a:off x="457200" y="605332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Lodestone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steps: a disciplined path from board discussion to announcement in about ten weeks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1173450" y="1554480"/>
            <a:ext cx="640080" cy="640080"/>
          </a:xfrm>
          <a:prstGeom prst="ellipse">
            <a:avLst/>
          </a:prstGeom>
          <a:solidFill>
            <a:srgbClr val="B5652B"/>
          </a:solidFill>
          <a:ln w="12700">
            <a:solidFill>
              <a:srgbClr val="B5652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7345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859250" y="1874520"/>
            <a:ext cx="1569659" cy="0"/>
          </a:xfrm>
          <a:prstGeom prst="line">
            <a:avLst/>
          </a:prstGeom>
          <a:noFill/>
          <a:ln w="19050">
            <a:solidFill>
              <a:srgbClr val="D5DB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2377440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6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743200"/>
            <a:ext cx="20725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review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337560"/>
            <a:ext cx="188969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approach strategy, price range and consideration mix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74629" y="1554480"/>
            <a:ext cx="640080" cy="640080"/>
          </a:xfrm>
          <a:prstGeom prst="ellipse">
            <a:avLst/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74629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160429" y="1874520"/>
            <a:ext cx="1569659" cy="0"/>
          </a:xfrm>
          <a:prstGeom prst="line">
            <a:avLst/>
          </a:prstGeom>
          <a:noFill/>
          <a:ln w="19050">
            <a:solidFill>
              <a:srgbClr val="D5DBE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58379" y="2377440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6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2–4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758379" y="2743200"/>
            <a:ext cx="20725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 approach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2849819" y="3337560"/>
            <a:ext cx="188969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Non-binding proposal to Ero's chair; sign NDA and standstill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775808" y="1554480"/>
            <a:ext cx="640080" cy="640080"/>
          </a:xfrm>
          <a:prstGeom prst="ellipse">
            <a:avLst/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75808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461608" y="1874520"/>
            <a:ext cx="1569659" cy="0"/>
          </a:xfrm>
          <a:prstGeom prst="line">
            <a:avLst/>
          </a:prstGeom>
          <a:noFill/>
          <a:ln w="19050">
            <a:solidFill>
              <a:srgbClr val="D5DBE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59558" y="2377440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6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4–8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059558" y="2743200"/>
            <a:ext cx="20725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diligence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150998" y="3337560"/>
            <a:ext cx="188969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visits to Caraíba and Tucumã; reserve audit; Brazil tax and royalty review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076987" y="1554480"/>
            <a:ext cx="640080" cy="640080"/>
          </a:xfrm>
          <a:prstGeom prst="ellipse">
            <a:avLst/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76987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8762787" y="1874520"/>
            <a:ext cx="1569659" cy="0"/>
          </a:xfrm>
          <a:prstGeom prst="line">
            <a:avLst/>
          </a:prstGeom>
          <a:noFill/>
          <a:ln w="19050">
            <a:solidFill>
              <a:srgbClr val="D5DBE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60737" y="2377440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6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8–10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360737" y="2743200"/>
            <a:ext cx="20725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Definitive agreement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7452177" y="3337560"/>
            <a:ext cx="188969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opinions, financing commitment, lock-ups from key holders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10378166" y="1554480"/>
            <a:ext cx="640080" cy="640080"/>
          </a:xfrm>
          <a:prstGeom prst="ellipse">
            <a:avLst/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378166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9661916" y="2377440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6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+4–6 mo.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9661916" y="2743200"/>
            <a:ext cx="20725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Approvals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9753356" y="3337560"/>
            <a:ext cx="188969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 shareholder vote, court approval (plan of arrangement), CADE and Investment Canada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457200" y="4983480"/>
            <a:ext cx="11277295" cy="8686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1520" y="507492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requested today: authorise a confidential, non-binding approach to Ero at up to C$54.64 per share in a mix of Centerra stock and cash.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Appendix: methodology and key assumptions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71600"/>
            <a:ext cx="6035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asset is a reserve-constrained life-of-mine model: ore processed = min(mill capacity, remaining reserve), then grade x recovery x payability gives payable metal.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the analyst deck after the Royal Gold stream at Mount Milligan; costs from site cost per tonne, TC/RC, royalties and sustaining capex, calibrated to 2026 guidance.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Unlevered after-tax free cash flow discounted mid-year at real rates: 5% gold, 8% copper, 6.5% blended for Mount Milligan.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NAV = attributable asset NAVs - capitalised G&amp;A + other assets + cash - debt. NAV is reserve-only.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Accretion uses standalone 2027E/2028E net income and operating cash flow from the same asset models, plus synergies and financing costs after tax.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assumption lives in a CSV under data/; the Excel model, this deck and the dashboard are all generated from those files. A test suite checks the Python engine against Excel within 0.5%.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371600"/>
          <a:ext cx="47548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deck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Copper /lb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/oz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US$6.00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US$3,900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US$3,600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2029+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US$3,300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US$6.48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US$4,008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3520440"/>
          <a:ext cx="47548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 Milligan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 → 23.7 Mtpa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Öksüt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 Mtpa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 Mtpa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Caraíba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Mtpa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Tucumã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→ 4.4 Mtpa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Xavantina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 Mtpa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7" name="source"/>
          <p:cNvSpPr txBox="1"/>
          <p:nvPr/>
        </p:nvSpPr>
        <p:spPr>
          <a:xfrm>
            <a:off x="457200" y="605332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Lodestone model: Inputs and asset tabs; data/*.csv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Appendix: sources and data status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4206240"/>
                <a:gridCol w="24963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Centerra reserves (Mt Milligan, Öksüt, Goldfield)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Year-end 2025 MRMR tables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 Milligan life extension and expansion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 43-101 PFS, Sep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Verified; Cu grade estimated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Centerra 2026 guidance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2026 MD&amp;A (Form 6-K)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Royal Gold stream terms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Centerra MD&amp;A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Caraíba reserves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Ero reserve statement, Dec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Tucumã reserves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 43-101 technical report, 2021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Verified; depleted in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Xavantina reserves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Back-solved from 2025 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Ero 2026 guidance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 MD&amp;A; Q2 2026 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reserves (CuEq)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reserve statements (approx.)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Precedent premiums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Announcement press releases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reported; to verify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yfinance snapshot 2026-10-25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"/>
          <p:cNvSpPr txBox="1"/>
          <p:nvPr/>
        </p:nvSpPr>
        <p:spPr>
          <a:xfrm>
            <a:off x="457200" y="605332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data/sources.csv and data/asset_assumption_notes.csv (full URLs)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Lodestone — Centerra Gold / Ero Copper</dc:title>
  <dc:subject>Hypothetical buy-side merger analysis</dc:subject>
  <dc:creator>Ashfaq (github.com/ashrahman19)</dc:creator>
  <cp:lastModifiedBy>Ashfaq (github.com/ashrahman19)</cp:lastModifiedBy>
  <cp:revision>1</cp:revision>
  <dcterms:created xsi:type="dcterms:W3CDTF">2026-10-25T00:33:56Z</dcterms:created>
  <dcterms:modified xsi:type="dcterms:W3CDTF">2026-10-25T00:33:56Z</dcterms:modified>
</cp:coreProperties>
</file>